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40080"/>
            <a:ext cx="2834640" cy="27809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43000"/>
            <a:ext cx="7223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Gestão de Sócios</a:t>
            </a:r>
          </a:p>
          <a:p>
            <a:pPr>
              <a:spcBef>
                <a:spcPts val="800"/>
              </a:spcBef>
              <a:defRPr sz="2000">
                <a:solidFill>
                  <a:srgbClr val="DAA94A"/>
                </a:solidFill>
              </a:defRPr>
            </a:pPr>
            <a:r>
              <a:t>G.R.E.S. Juventude Vareira — Escola de Samba de Ovar</a:t>
            </a:r>
          </a:p>
          <a:p>
            <a:pPr>
              <a:spcBef>
                <a:spcPts val="1600"/>
              </a:spcBef>
              <a:defRPr sz="1500">
                <a:solidFill>
                  <a:srgbClr val="E5EAEF"/>
                </a:solidFill>
              </a:defRPr>
            </a:pPr>
            <a:r>
              <a:t>Projeto MVC em PHP + PDO + Base de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5196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251960"/>
            <a:ext cx="73152" cy="105156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416552"/>
            <a:ext cx="2697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73752"/>
            <a:ext cx="269747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Gerir sócios, quotas e utilizadores através de uma aplicação web organizada e segura.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425196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69080" y="4251960"/>
            <a:ext cx="73152" cy="105156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4416552"/>
            <a:ext cx="2697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Arquitetura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873752"/>
            <a:ext cx="269747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MVC: Model, View e Controller com um router central em index.php.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25196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4251960"/>
            <a:ext cx="73152" cy="105156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416552"/>
            <a:ext cx="2697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Tecnologia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873752"/>
            <a:ext cx="269747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PHP 8+, PDO, MySQL/SQLite, HTML/CSS e sessões.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Roteiro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Tópicos organizados a partir das notas e comprovados pelo código do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1. Escolha do projeto: nome, objetivo e gestão de sócios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2. Organização do projeto e introdução ao MVC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3. Ligação à base de dados e modelo relacional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4. Segurança: autenticação, hashing, sessões e CSRF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5. Identidade visual, interface web e validação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6. Lógica do controlo e gestão de sócios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7. Controller, pedidos do utilizador, formulários e URL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8. Operações CRUD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9. Funcionalidades específicas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10. Estrutura/dados, código/lógica e demonstração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1. Escolha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Uma aplicação concreta para apoiar a gestão interna da Escola de Samba de Ovar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23444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Nome do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Escola de Samba de Ovar — Gestão de Sócios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4290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63240"/>
            <a:ext cx="73152" cy="1463040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2783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Objetivo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85032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Centralizar registo de sócios, categorias, contactos e estado das quotas; acrescentar autenticação e gestão de utilizadores.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709160"/>
            <a:ext cx="73152" cy="1143000"/>
          </a:xfrm>
          <a:prstGeom prst="rect">
            <a:avLst/>
          </a:prstGeom>
          <a:solidFill>
            <a:srgbClr val="2D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8737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Utilizadores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30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Utilizador normal consulta. Administrador cria, edita, elimina, altera quotas e gere contas.</a:t>
            </a:r>
          </a:p>
        </p:txBody>
      </p:sp>
      <p:pic>
        <p:nvPicPr>
          <p:cNvPr id="18" name="Picture 17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45920"/>
            <a:ext cx="2971800" cy="4160520"/>
          </a:xfrm>
          <a:prstGeom prst="rect">
            <a:avLst/>
          </a:prstGeom>
        </p:spPr>
      </p:pic>
      <p:pic>
        <p:nvPicPr>
          <p:cNvPr id="19" name="Picture 18" descr="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74519"/>
            <a:ext cx="3246120" cy="318458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2. Organização do projeto e MVC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Separação de responsabilidades para tornar o código mais organizado e reutilizável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234440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models/socio.php e models/user.php</a:t>
            </a:r>
            <a:br/>
            <a:r>
              <a:t>Acesso e manipulação dos dados com PDO.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123444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105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677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views/listar.php, criar.php, editar.php, login1.php...</a:t>
            </a:r>
            <a:br/>
            <a:r>
              <a:t>Interface apresentada ao utilizador.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73152" cy="1234440"/>
          </a:xfrm>
          <a:prstGeom prst="rect">
            <a:avLst/>
          </a:prstGeom>
          <a:solidFill>
            <a:srgbClr val="2D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8105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2677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SocioController.php e UtilizadorController.php</a:t>
            </a:r>
            <a:br/>
            <a:r>
              <a:t>Recebem pedidos e coordenam Model +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3337560"/>
            <a:ext cx="9601200" cy="2331720"/>
          </a:xfrm>
          <a:prstGeom prst="roundRect">
            <a:avLst/>
          </a:prstGeom>
          <a:solidFill>
            <a:srgbClr val="181D24"/>
          </a:solidFill>
          <a:ln>
            <a:solidFill>
              <a:srgbClr val="34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39" y="3447288"/>
            <a:ext cx="9235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AA94A"/>
                </a:solidFill>
              </a:defRPr>
            </a:pPr>
            <a:r>
              <a:t>Router / ponto de entrada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776472"/>
            <a:ext cx="9198864" cy="1801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7EBEF"/>
                </a:solidFill>
                <a:latin typeface="Consolas"/>
              </a:defRPr>
            </a:pPr>
            <a:r>
              <a:t>index.php</a:t>
            </a:r>
            <a:br/>
            <a:r>
              <a:t>$acao = $_GET['acao'] ?? 'listar';</a:t>
            </a:r>
            <a:br/>
            <a:br/>
            <a:r>
              <a:t>switch ($acao) {</a:t>
            </a:r>
            <a:br/>
            <a:r>
              <a:t>  case 'listar':</a:t>
            </a:r>
            <a:br/>
            <a:r>
              <a:t>    $socioController-&gt;listar();</a:t>
            </a:r>
            <a:br/>
            <a:r>
              <a:t>    break;</a:t>
            </a:r>
            <a:br/>
            <a:r>
              <a:t>  case 'criar':</a:t>
            </a:r>
            <a:br/>
            <a:r>
              <a:t>    exigir_admin();</a:t>
            </a:r>
            <a:br/>
            <a:r>
              <a:t>    $socioController-&gt;criar();</a:t>
            </a:r>
            <a:br/>
            <a:r>
              <a:t>    break;</a:t>
            </a:r>
            <a:br/>
            <a: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3. Ligação à 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O projeto usa PDO e possui duas entidades principais: sócios e utilizadores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73152" cy="1874519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Tabela socios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2"/>
            <a:ext cx="489204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id (PK)</a:t>
            </a:r>
            <a:br/>
            <a:r>
              <a:t>numero_socio (UNIQUE)</a:t>
            </a:r>
            <a:br/>
            <a:r>
              <a:t>nome_completo • categoria • contacto</a:t>
            </a:r>
            <a:br/>
            <a:r>
              <a:t>quota_regularizada • created_at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73152" cy="1874519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6479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Tabela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21992"/>
            <a:ext cx="489204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id (PK)</a:t>
            </a:r>
            <a:br/>
            <a:r>
              <a:t>nome • utilizador (UNIQUE)</a:t>
            </a:r>
            <a:br/>
            <a:r>
              <a:t>palavra_passe • role • created_at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5303520" cy="2057400"/>
          </a:xfrm>
          <a:prstGeom prst="roundRect">
            <a:avLst/>
          </a:prstGeom>
          <a:solidFill>
            <a:srgbClr val="181D24"/>
          </a:solidFill>
          <a:ln>
            <a:solidFill>
              <a:srgbClr val="34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04488"/>
            <a:ext cx="4937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AA94A"/>
                </a:solidFill>
              </a:defRPr>
            </a:pPr>
            <a:r>
              <a:t>Database.sql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233672"/>
            <a:ext cx="4901183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7EBEF"/>
                </a:solidFill>
                <a:latin typeface="Consolas"/>
              </a:defRPr>
            </a:pPr>
            <a:r>
              <a:t>CREATE TABLE socios (</a:t>
            </a:r>
            <a:br/>
            <a:r>
              <a:t>  id int NOT NULL,</a:t>
            </a:r>
            <a:br/>
            <a:r>
              <a:t>  numero_socio varchar(20) NOT NULL,</a:t>
            </a:r>
            <a:br/>
            <a:r>
              <a:t>  nome_completo varchar(150) NOT NULL,</a:t>
            </a:r>
            <a:br/>
            <a:r>
              <a:t>  categoria varchar(50) NOT NULL,</a:t>
            </a:r>
            <a:br/>
            <a:r>
              <a:t>  contacto varchar(20) NOT NULL,</a:t>
            </a:r>
            <a:br/>
            <a:r>
              <a:t>  quota_regularizada tinyint(1) DEFAULT 1</a:t>
            </a:r>
            <a:br/>
            <a:r>
              <a:t>);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94760"/>
            <a:ext cx="5303520" cy="2057400"/>
          </a:xfrm>
          <a:prstGeom prst="roundRect">
            <a:avLst/>
          </a:prstGeom>
          <a:solidFill>
            <a:srgbClr val="181D24"/>
          </a:solidFill>
          <a:ln>
            <a:solidFill>
              <a:srgbClr val="34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04488"/>
            <a:ext cx="4937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AA94A"/>
                </a:solidFill>
              </a:defRPr>
            </a:pPr>
            <a:r>
              <a:t>Ligação Controller → Model → PDO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233672"/>
            <a:ext cx="4901183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7EBEF"/>
                </a:solidFill>
                <a:latin typeface="Consolas"/>
              </a:defRPr>
            </a:pPr>
            <a:r>
              <a:t>$database = new Database();</a:t>
            </a:r>
            <a:br/>
            <a:r>
              <a:t>$this-&gt;db = $database-&gt;getConnection();</a:t>
            </a:r>
            <a:br/>
            <a:r>
              <a:t>$this-&gt;socio = new Socio($this-&gt;db);</a:t>
            </a:r>
            <a:br/>
            <a:br/>
            <a:r>
              <a:t>// Model executa SQL através de PDO</a:t>
            </a:r>
            <a:br/>
            <a:r>
              <a:t>$stmt = $this-&gt;conn-&gt;prepare($query);</a:t>
            </a:r>
            <a:br/>
            <a:r>
              <a:t>$stmt-&gt;execute();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4.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Medidas implementadas no ZIP para proteger credenciais e ações administrativas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Hash da palavra-passe com password_hash(..., PASSWORD_DEFAULT).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Login verifica credenciais e guarda identidade/role na sessão.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Cookies de sessão com httponly e SameSite=Lax; secure quando existe HTTPS.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Token CSRF gerado com random_bytes(32) e validado com hash_equals().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Operações críticas exigem role admin e pedidos POST.</a:t>
            </a:r>
          </a:p>
          <a:p>
            <a:pPr>
              <a:spcAft>
                <a:spcPts val="800"/>
              </a:spcAft>
              <a:defRPr sz="1600">
                <a:solidFill>
                  <a:srgbClr val="20272F"/>
                </a:solidFill>
                <a:latin typeface="Aptos"/>
              </a:defRPr>
            </a:pPr>
            <a:r>
              <a:t>• PDO com prepared statements reduz risco de SQL Injection.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37360"/>
            <a:ext cx="4754880" cy="3063240"/>
          </a:xfrm>
          <a:prstGeom prst="roundRect">
            <a:avLst/>
          </a:prstGeom>
          <a:solidFill>
            <a:srgbClr val="181D24"/>
          </a:solidFill>
          <a:ln>
            <a:solidFill>
              <a:srgbClr val="34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4708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AA94A"/>
                </a:solidFill>
              </a:defRPr>
            </a:pPr>
            <a:r>
              <a:t>Excertos reais do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2176272"/>
            <a:ext cx="4352544" cy="2532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7EBEF"/>
                </a:solidFill>
                <a:latin typeface="Consolas"/>
              </a:defRPr>
            </a:pPr>
            <a:r>
              <a:t>$hashed_password =</a:t>
            </a:r>
            <a:br/>
            <a:r>
              <a:t>    password_hash($data['palavra_passe'],</a:t>
            </a:r>
            <a:br/>
            <a:r>
              <a:t>                  PASSWORD_DEFAULT);</a:t>
            </a:r>
            <a:br/>
            <a:br/>
            <a:r>
              <a:t>function verificar_csrf(): void {</a:t>
            </a:r>
            <a:br/>
            <a:r>
              <a:t>  $token = $_POST['csrf_token'] ?? '';</a:t>
            </a:r>
            <a:br/>
            <a:r>
              <a:t>  if (!hash_equals($_SESSION['csrf_token'] ?? '',</a:t>
            </a:r>
            <a:br/>
            <a:r>
              <a:t>                   $token)) {</a:t>
            </a:r>
            <a:br/>
            <a:r>
              <a:t>    http_response_code(419);</a:t>
            </a:r>
            <a:br/>
            <a:r>
              <a:t>    exit('Pedido inválido.');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5029200"/>
            <a:ext cx="4754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5029200"/>
            <a:ext cx="73152" cy="777240"/>
          </a:xfrm>
          <a:prstGeom prst="rect">
            <a:avLst/>
          </a:prstGeom>
          <a:solidFill>
            <a:srgbClr val="B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5193792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Autorização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650992"/>
            <a:ext cx="4343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exigir_admin() devolve HTTP 403 quando o utilizador não é administrador.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5. Identidade visual e interface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Frontend responsivo com identidade da escola e formulários orientados à tarefa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3063240" cy="30051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60520" y="16459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60520" y="1645920"/>
            <a:ext cx="73152" cy="1280160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8105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Views do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67712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listar.php • criar.php • editar.php • login1.php • registo.php • utilizadores.php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6459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1645920"/>
            <a:ext cx="73152" cy="128016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267712"/>
            <a:ext cx="29718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css/main.css concentra a apresentação e o layout responsivo para computador e telemóvel.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246120"/>
            <a:ext cx="7040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3246120"/>
            <a:ext cx="73152" cy="1234440"/>
          </a:xfrm>
          <a:prstGeom prst="rect">
            <a:avLst/>
          </a:prstGeom>
          <a:solidFill>
            <a:srgbClr val="2D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410712"/>
            <a:ext cx="6629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Validação do funcionamento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867911"/>
            <a:ext cx="6629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Os controllers validam campos obrigatórios, limites de tamanho, estado da quota e IDs antes de executar alterações.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4709160"/>
            <a:ext cx="7040880" cy="1143000"/>
          </a:xfrm>
          <a:prstGeom prst="roundRect">
            <a:avLst/>
          </a:prstGeom>
          <a:solidFill>
            <a:srgbClr val="181D24"/>
          </a:solidFill>
          <a:ln>
            <a:solidFill>
              <a:srgbClr val="34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4818888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AA94A"/>
                </a:solidFill>
              </a:defRPr>
            </a:pPr>
            <a:r>
              <a:t>SocioController::validarDados()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5148072"/>
            <a:ext cx="6638544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7EBEF"/>
                </a:solidFill>
                <a:latin typeface="Consolas"/>
              </a:defRPr>
            </a:pPr>
            <a:r>
              <a:t>if ($nome === '' || $categoria === '' || $contacto === '') {</a:t>
            </a:r>
            <a:br/>
            <a:r>
              <a:t>    return ['erro' =&gt; 'Preencha todos os campos obrigatórios.'];</a:t>
            </a:r>
            <a:br/>
            <a:r>
              <a:t>}</a:t>
            </a:r>
            <a:br/>
            <a:r>
              <a:t>if ($quota !== 0 &amp;&amp; $quota !== 1) {</a:t>
            </a:r>
            <a:br/>
            <a:r>
              <a:t>    return ['erro' =&gt; 'Estado das quotas inválido.'];</a:t>
            </a:r>
            <a:br/>
            <a: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6. Lógica de controlo e gestão de sócios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O Controller transforma uma ação do utilizador numa operação sobre os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73152" cy="1051560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1 · Pedido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16002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URL ou formulário envia uma ação para index.php.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7373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1737360"/>
            <a:ext cx="73152" cy="105156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01952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2 ·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59152"/>
            <a:ext cx="16002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switch($acao) escolhe o Controller correto.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7373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737360"/>
            <a:ext cx="73152" cy="1051560"/>
          </a:xfrm>
          <a:prstGeom prst="rect">
            <a:avLst/>
          </a:prstGeom>
          <a:solidFill>
            <a:srgbClr val="2D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901952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3 ·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359152"/>
            <a:ext cx="16002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Valida permissões, método, CSRF e dados.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7373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60920" y="1737360"/>
            <a:ext cx="73152" cy="1051560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901952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4 ·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359152"/>
            <a:ext cx="16002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Executa SELECT / INSERT / UPDATE / DELETE via PDO.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7373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737360"/>
            <a:ext cx="73152" cy="105156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901952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5 ·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359152"/>
            <a:ext cx="160020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Apresenta o resultado ao utilizador.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3429000"/>
            <a:ext cx="9509760" cy="2103120"/>
          </a:xfrm>
          <a:prstGeom prst="roundRect">
            <a:avLst/>
          </a:prstGeom>
          <a:solidFill>
            <a:srgbClr val="181D24"/>
          </a:solidFill>
          <a:ln>
            <a:solidFill>
              <a:srgbClr val="34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3872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AA94A"/>
                </a:solidFill>
              </a:defRPr>
            </a:pPr>
            <a:r>
              <a:t>Fluxo real em index.php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867912"/>
            <a:ext cx="9107424" cy="1572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7EBEF"/>
                </a:solidFill>
                <a:latin typeface="Consolas"/>
              </a:defRPr>
            </a:pPr>
            <a:r>
              <a:t>// Exemplo: alterar estado da quota</a:t>
            </a:r>
            <a:br/>
            <a:r>
              <a:t>case 'status':</a:t>
            </a:r>
            <a:br/>
            <a:r>
              <a:t>  exigir_admin();</a:t>
            </a:r>
            <a:br/>
            <a:r>
              <a:t>  if ($_SERVER['REQUEST_METHOD'] !== 'POST') {</a:t>
            </a:r>
            <a:br/>
            <a:r>
              <a:t>      http_response_code(405);</a:t>
            </a:r>
            <a:br/>
            <a:r>
              <a:t>      exit('Método não permitido.');</a:t>
            </a:r>
            <a:br/>
            <a:r>
              <a:t>  }</a:t>
            </a:r>
            <a:br/>
            <a:r>
              <a:t>  verificar_csrf();</a:t>
            </a:r>
            <a:br/>
            <a:r>
              <a:t>  $socioController-&gt;mudarStatus();</a:t>
            </a:r>
            <a:br/>
            <a:r>
              <a:t>  break;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7–8. Pedidos do utilizador e operações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As ações chegam por URL/GET ou formulário/POST e são encaminhadas pelo router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371600"/>
          </a:xfrm>
          <a:prstGeom prst="rect">
            <a:avLst/>
          </a:prstGeom>
          <a:solidFill>
            <a:srgbClr val="2D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148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acao=criar</a:t>
            </a:r>
            <a:br/>
            <a:r>
              <a:t>SocioController::criar()</a:t>
            </a:r>
            <a:br/>
            <a:r>
              <a:t>Model::criar()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45920"/>
            <a:ext cx="73152" cy="1371600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10512"/>
            <a:ext cx="2148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67712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acao=listar</a:t>
            </a:r>
            <a:br/>
            <a:r>
              <a:t>lerTodos()</a:t>
            </a:r>
            <a:br/>
            <a:r>
              <a:t>lerPorId()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64592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645920"/>
            <a:ext cx="73152" cy="137160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10512"/>
            <a:ext cx="2148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67712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acao=editar / status</a:t>
            </a:r>
            <a:br/>
            <a:r>
              <a:t>atualizar()</a:t>
            </a:r>
            <a:br/>
            <a:r>
              <a:t>alterarStatus()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645920"/>
            <a:ext cx="25603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5400" y="1645920"/>
            <a:ext cx="73152" cy="1371600"/>
          </a:xfrm>
          <a:prstGeom prst="rect">
            <a:avLst/>
          </a:prstGeom>
          <a:solidFill>
            <a:srgbClr val="B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810512"/>
            <a:ext cx="2148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267712"/>
            <a:ext cx="21488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acao=apagar</a:t>
            </a:r>
            <a:br/>
            <a:r>
              <a:t>SocioController::apagar()</a:t>
            </a:r>
            <a:br/>
            <a:r>
              <a:t>Model::apagar()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520440"/>
            <a:ext cx="9966960" cy="1965960"/>
          </a:xfrm>
          <a:prstGeom prst="roundRect">
            <a:avLst/>
          </a:prstGeom>
          <a:solidFill>
            <a:srgbClr val="181D24"/>
          </a:solidFill>
          <a:ln>
            <a:solidFill>
              <a:srgbClr val="34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63016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AA94A"/>
                </a:solidFill>
              </a:defRPr>
            </a:pPr>
            <a:r>
              <a:t>Exemplos de comunicação entre interface e 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959352"/>
            <a:ext cx="9564624" cy="1435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7EBEF"/>
                </a:solidFill>
                <a:latin typeface="Consolas"/>
              </a:defRPr>
            </a:pPr>
            <a:r>
              <a:t>GET:  index.php?acao=editar&amp;id=12</a:t>
            </a:r>
            <a:br/>
            <a:r>
              <a:t>POST: formulário de criação/edição</a:t>
            </a:r>
            <a:br/>
            <a:br/>
            <a:r>
              <a:t>$id = $_GET['id'] ?? null;</a:t>
            </a:r>
            <a:br/>
            <a:r>
              <a:t>$id = filter_input(INPUT_POST, 'id', FILTER_VALIDATE_INT);</a:t>
            </a:r>
            <a:br/>
            <a:br/>
            <a:r>
              <a:t>header("Location: index.php?acao=listar");</a:t>
            </a:r>
            <a:br/>
            <a:r>
              <a:t>exit();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9. Funcionalidades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O projeto vai além do CRUD básico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325880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Número de sócio automático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Ao criar, o Controller calcula o próximo número com base nos números existentes.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73152" cy="132588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105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Quotas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677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quota_regularizada é guardada como 0/1 e pode ser alterada rapidamente por administrador.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73152" cy="1325880"/>
          </a:xfrm>
          <a:prstGeom prst="rect">
            <a:avLst/>
          </a:prstGeom>
          <a:solidFill>
            <a:srgbClr val="2D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105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Categorias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677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A categoria do sócio é armazenada e pode ser usada em pesquisa/filtros; a interface pode distinguir Adulto/Criança e outras categorias.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37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337560"/>
            <a:ext cx="73152" cy="1325880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5021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Pesquisa e filtros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95935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listar() recebe pesquisa, categoria e quota e envia os filtros ao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37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337560"/>
            <a:ext cx="73152" cy="132588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5021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Estatísticas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5935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O Controller obtém estatísticas e categorias para apresentar na listagem.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33756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337560"/>
            <a:ext cx="73152" cy="1325880"/>
          </a:xfrm>
          <a:prstGeom prst="rect">
            <a:avLst/>
          </a:prstGeom>
          <a:solidFill>
            <a:srgbClr val="2D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5021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Gestão de utilizadores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95935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Admin pode alterar papéis e remover contas, preservando pelo menos um administrador.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5074920"/>
            <a:ext cx="7040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0" y="5074920"/>
            <a:ext cx="73152" cy="777240"/>
          </a:xfrm>
          <a:prstGeom prst="rect">
            <a:avLst/>
          </a:prstGeom>
          <a:solidFill>
            <a:srgbClr val="B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5239512"/>
            <a:ext cx="6629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Referência das notas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5696712"/>
            <a:ext cx="66294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Valores anotados: quota anual de 125 € para adultos e 75 € para crianças — regra a integrar/confirmar no módulo de pagamentos.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10. Estrutura, dados e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Como as peças do projeto se relacionam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480560"/>
          </a:xfrm>
          <a:prstGeom prst="roundRect">
            <a:avLst/>
          </a:prstGeom>
          <a:solidFill>
            <a:srgbClr val="181D24"/>
          </a:solidFill>
          <a:ln>
            <a:solidFill>
              <a:srgbClr val="34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AA94A"/>
                </a:solidFill>
              </a:defRPr>
            </a:pPr>
            <a:r>
              <a:t>Estrutura real do ZIP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4809744" cy="395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E7EBEF"/>
                </a:solidFill>
                <a:latin typeface="Consolas"/>
              </a:defRPr>
            </a:pPr>
            <a:r>
              <a:t>escola_samba_ovar_mvc-main/</a:t>
            </a:r>
            <a:br/>
            <a:r>
              <a:t>├── config/Database.php</a:t>
            </a:r>
            <a:br/>
            <a:r>
              <a:t>├── controllers/</a:t>
            </a:r>
            <a:br/>
            <a:r>
              <a:t>│   ├── SocioController.php</a:t>
            </a:r>
            <a:br/>
            <a:r>
              <a:t>│   └── UtilizadorController.php</a:t>
            </a:r>
            <a:br/>
            <a:r>
              <a:t>├── models/</a:t>
            </a:r>
            <a:br/>
            <a:r>
              <a:t>│   ├── socio.php</a:t>
            </a:r>
            <a:br/>
            <a:r>
              <a:t>│   └── user.php</a:t>
            </a:r>
            <a:br/>
            <a:r>
              <a:t>├── views/</a:t>
            </a:r>
            <a:br/>
            <a:r>
              <a:t>│   ├── listar.php  ├── criar.php</a:t>
            </a:r>
            <a:br/>
            <a:r>
              <a:t>│   ├── editar.php  ├── login1.php</a:t>
            </a:r>
            <a:br/>
            <a:r>
              <a:t>│   ├── registo.php └── utilizadores.php</a:t>
            </a:r>
            <a:br/>
            <a:r>
              <a:t>├── css/main.css</a:t>
            </a:r>
            <a:br/>
            <a:r>
              <a:t>├── Database.sql</a:t>
            </a:r>
            <a:br/>
            <a:r>
              <a:t>└── index.php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72F"/>
                </a:solidFill>
                <a:latin typeface="Aptos"/>
              </a:defRPr>
            </a:pPr>
            <a:r>
              <a:t>• Dados: tabelas socios e users.</a:t>
            </a:r>
          </a:p>
          <a:p>
            <a:pPr>
              <a:spcAft>
                <a:spcPts val="800"/>
              </a:spcAft>
              <a:defRPr sz="1500">
                <a:solidFill>
                  <a:srgbClr val="20272F"/>
                </a:solidFill>
                <a:latin typeface="Aptos"/>
              </a:defRPr>
            </a:pPr>
            <a:r>
              <a:t>• Lógica de negócio: controllers validam fluxos e permissões.</a:t>
            </a:r>
          </a:p>
          <a:p>
            <a:pPr>
              <a:spcAft>
                <a:spcPts val="800"/>
              </a:spcAft>
              <a:defRPr sz="1500">
                <a:solidFill>
                  <a:srgbClr val="20272F"/>
                </a:solidFill>
                <a:latin typeface="Aptos"/>
              </a:defRPr>
            </a:pPr>
            <a:r>
              <a:t>• Persistência: models executam SQL através de PDO.</a:t>
            </a:r>
          </a:p>
          <a:p>
            <a:pPr>
              <a:spcAft>
                <a:spcPts val="800"/>
              </a:spcAft>
              <a:defRPr sz="1500">
                <a:solidFill>
                  <a:srgbClr val="20272F"/>
                </a:solidFill>
                <a:latin typeface="Aptos"/>
              </a:defRPr>
            </a:pPr>
            <a:r>
              <a:t>• Apresentação: views + main.css.</a:t>
            </a:r>
          </a:p>
          <a:p>
            <a:pPr>
              <a:spcAft>
                <a:spcPts val="800"/>
              </a:spcAft>
              <a:defRPr sz="1500">
                <a:solidFill>
                  <a:srgbClr val="20272F"/>
                </a:solidFill>
                <a:latin typeface="Aptos"/>
              </a:defRPr>
            </a:pPr>
            <a:r>
              <a:t>• Entrada única: index.php funciona como router.</a:t>
            </a:r>
          </a:p>
          <a:p>
            <a:pPr>
              <a:spcAft>
                <a:spcPts val="800"/>
              </a:spcAft>
              <a:defRPr sz="1500">
                <a:solidFill>
                  <a:srgbClr val="20272F"/>
                </a:solidFill>
                <a:latin typeface="Aptos"/>
              </a:defRPr>
            </a:pPr>
            <a:r>
              <a:t>• Compatibilidade: MySQL e fallback SQLite descrito no README.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Demonstração do funcionamento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E5EAEF"/>
                </a:solidFill>
                <a:latin typeface="Aptos"/>
              </a:defRPr>
            </a:pPr>
            <a:r>
              <a:t>Sequência sugerida para apresentar o projeto ao vivo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73152" cy="114300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562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1 ·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Entrar com conta administrativa e explicar sessão + role.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73152" cy="1143000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562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2 · Lista de sócios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134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Mostrar pesquisa, filtros, categorias, quotas e estatísticas.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73152" cy="1143000"/>
          </a:xfrm>
          <a:prstGeom prst="rect">
            <a:avLst/>
          </a:prstGeom>
          <a:solidFill>
            <a:srgbClr val="2D7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8562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3 · 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1343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Criar um sócio, editar dados, alterar quota e demonstrar eliminação.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004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200400"/>
            <a:ext cx="73152" cy="1143000"/>
          </a:xfrm>
          <a:prstGeom prst="rect">
            <a:avLst/>
          </a:prstGeom>
          <a:solidFill>
            <a:srgbClr val="B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3649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4 · Segurança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2219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Mostrar que utilizador normal não consegue executar ações de administrador.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2004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200400"/>
            <a:ext cx="73152" cy="114300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3649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5 · Código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82219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Relacionar URL → index.php → Controller → Model → Base de Dados → 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2004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200400"/>
            <a:ext cx="73152" cy="1143000"/>
          </a:xfrm>
          <a:prstGeom prst="rect">
            <a:avLst/>
          </a:prstGeom>
          <a:solidFill>
            <a:srgbClr val="184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36499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6 · Responsividade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822191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Redimensionar a janela e mostrar o layout adaptado.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983480"/>
            <a:ext cx="10149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Mensagem-chave: o MVC separa responsabilidades; o PDO liga a aplicação aos dados; o Controller controla o fluxo e a segurança.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ptos Display"/>
              </a:defRPr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D6874"/>
                </a:solidFill>
                <a:latin typeface="Aptos"/>
              </a:defRPr>
            </a:pPr>
            <a:r>
              <a:t>O projeto demonstra os conceitos fundamentais pedidos numa aplicação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05840" cy="54864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72F"/>
                </a:solidFill>
                <a:latin typeface="Aptos"/>
              </a:defRPr>
            </a:pPr>
            <a:r>
              <a:t>• MVC aplicado de forma clara: Models, Views e Controllers separados.</a:t>
            </a:r>
          </a:p>
          <a:p>
            <a:pPr>
              <a:spcAft>
                <a:spcPts val="800"/>
              </a:spcAft>
              <a:defRPr sz="1700">
                <a:solidFill>
                  <a:srgbClr val="20272F"/>
                </a:solidFill>
                <a:latin typeface="Aptos"/>
              </a:defRPr>
            </a:pPr>
            <a:r>
              <a:t>• PDO e base de dados relacional para persistência dos dados.</a:t>
            </a:r>
          </a:p>
          <a:p>
            <a:pPr>
              <a:spcAft>
                <a:spcPts val="800"/>
              </a:spcAft>
              <a:defRPr sz="1700">
                <a:solidFill>
                  <a:srgbClr val="20272F"/>
                </a:solidFill>
                <a:latin typeface="Aptos"/>
              </a:defRPr>
            </a:pPr>
            <a:r>
              <a:t>• CRUD completo para gestão de sócios.</a:t>
            </a:r>
          </a:p>
          <a:p>
            <a:pPr>
              <a:spcAft>
                <a:spcPts val="800"/>
              </a:spcAft>
              <a:defRPr sz="1700">
                <a:solidFill>
                  <a:srgbClr val="20272F"/>
                </a:solidFill>
                <a:latin typeface="Aptos"/>
              </a:defRPr>
            </a:pPr>
            <a:r>
              <a:t>• Autenticação, hashing, sessões, CSRF e controlo de permissões.</a:t>
            </a:r>
          </a:p>
          <a:p>
            <a:pPr>
              <a:spcAft>
                <a:spcPts val="800"/>
              </a:spcAft>
              <a:defRPr sz="1700">
                <a:solidFill>
                  <a:srgbClr val="20272F"/>
                </a:solidFill>
                <a:latin typeface="Aptos"/>
              </a:defRPr>
            </a:pPr>
            <a:r>
              <a:t>• Interface responsiva e fluxo utilizador → Controller → Model → View.</a:t>
            </a:r>
          </a:p>
          <a:p>
            <a:pPr>
              <a:spcAft>
                <a:spcPts val="800"/>
              </a:spcAft>
              <a:defRPr sz="1700">
                <a:solidFill>
                  <a:srgbClr val="20272F"/>
                </a:solidFill>
                <a:latin typeface="Aptos"/>
              </a:defRPr>
            </a:pPr>
            <a:r>
              <a:t>• Base pronta para evoluir com pagamentos/quotas anuais e categorias mais detalhadas.</a:t>
            </a:r>
          </a:p>
        </p:txBody>
      </p:sp>
      <p:pic>
        <p:nvPicPr>
          <p:cNvPr id="7" name="Picture 6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920240"/>
            <a:ext cx="2834640" cy="278090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4663440"/>
            <a:ext cx="3383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5EA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4663440"/>
            <a:ext cx="73152" cy="960120"/>
          </a:xfrm>
          <a:prstGeom prst="rect">
            <a:avLst/>
          </a:prstGeom>
          <a:solidFill>
            <a:srgbClr val="DAA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4828031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C2340"/>
                </a:solidFill>
              </a:defRPr>
            </a:pPr>
            <a:r>
              <a:t>Perguntas?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5285231"/>
            <a:ext cx="2971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0272F"/>
                </a:solidFill>
              </a:defRPr>
            </a:pPr>
            <a:r>
              <a:t>Obrigada pela atenção.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D687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